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 proposada: crear una persona client, triar dies i àpats, generar un mes, entrar com a operari i aprovar la primera proposta. Tornar al client i mostrar la setmana futura i la substitució. La captura es va obtenir del prototip local en mode de proves el 20 d’octubre de 2026. Font: codi i execució local d’Easy 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mode de proves utilitza un generador determinista i no és una prova d’IA real. El test automatitzat comprova el contracte de l’adaptador amb un proveïdor simulat. Per afirmar que la IA funciona en viu cal configurar una clau al servidor i completar una generació mensual real. Les proves amb persones no s’han fet encara. Fonts: README.md, backend/app/integrations/generation.py, backend/tests/test_flow.py i docs/protocolo_pruebas.md.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4DE15CD-8102-4270-8835-43D8FCFC1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12AABB4-3B96-4CA9-963B-3F37A9854A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9BD37093-CAF5-4C77-BA25-FACB12738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440B907-D1A9-4C61-A02F-F7FD7B1BD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86438D3-8A17-4D92-A96D-F7ADF6C65D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F63A30C-A4B1-4A7E-9DB4-AB5CA5F72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D69C9F4-DE60-4D6E-BD41-90A90F56D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D90A04-9CF5-4E58-8FC2-994FD64AC0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D1130AB-62AD-4BFE-B679-B6905D509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668900B-3BA5-4A3D-89A6-77D00B568C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cio">
            <a:extLst>
              <a:ext uri="{FF2B5EF4-FFF2-40B4-BE49-F238E27FC236}">
                <a16:creationId xmlns:a16="http://schemas.microsoft.com/office/drawing/2014/main" id="{FD9E4CCB-79DC-42FE-A396-7AE86143A83E}"/>
              </a:ext>
            </a:extLst>
          </p:cNvPr>
          <p:cNvSpPr>
            <a:spLocks noGrp="1"/>
          </p:cNvSpPr>
          <p:nvPr/>
        </p:nvSpPr>
        <p:spPr>
          <a:xfrm>
            <a:off x="609600" y="44767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3D34"/>
                </a:solidFill>
                <a:latin typeface="Arial"/>
                <a:ea typeface="Arial"/>
                <a:cs typeface="Arial"/>
              </a:rPr>
              <a:t>PRÀCTICA 1 · DEMOSTRACIÓ</a:t>
            </a:r>
          </a:p>
        </p:txBody>
      </p:sp>
      <p:sp>
        <p:nvSpPr>
          <p:cNvPr id="2" name="titol">
            <a:extLst>
              <a:ext uri="{FF2B5EF4-FFF2-40B4-BE49-F238E27FC236}">
                <a16:creationId xmlns:a16="http://schemas.microsoft.com/office/drawing/2014/main" id="{4C65DA44-5476-412D-BBBF-30C99842FAE5}"/>
              </a:ext>
            </a:extLst>
          </p:cNvPr>
          <p:cNvSpPr>
            <a:spLocks noGrp="1"/>
          </p:cNvSpPr>
          <p:nvPr/>
        </p:nvSpPr>
        <p:spPr>
          <a:xfrm>
            <a:off x="609600" y="847725"/>
            <a:ext cx="4953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defPPr>
            <a:lvl1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1pPr>
            <a:lvl2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2pPr>
            <a:lvl3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3pPr>
            <a:lvl4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4pPr>
            <a:lvl5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5pPr>
            <a:lvl6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6pPr>
            <a:lvl7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7pPr>
            <a:lvl8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8pPr>
            <a:lvl9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650" b="1">
                <a:solidFill>
                  <a:srgbClr val="183D34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83D34"/>
                </a:solidFill>
                <a:latin typeface="Arial"/>
                <a:ea typeface="Arial"/>
                <a:cs typeface="Arial"/>
              </a:rPr>
              <a:t>Easy Eats</a:t>
            </a:r>
          </a:p>
        </p:txBody>
      </p:sp>
      <p:sp>
        <p:nvSpPr>
          <p:cNvPr id="3" name="resum">
            <a:extLst>
              <a:ext uri="{FF2B5EF4-FFF2-40B4-BE49-F238E27FC236}">
                <a16:creationId xmlns:a16="http://schemas.microsoft.com/office/drawing/2014/main" id="{444278B0-E610-4DB5-A6DA-5AFE1DFFD444}"/>
              </a:ext>
            </a:extLst>
          </p:cNvPr>
          <p:cNvSpPr>
            <a:spLocks noGrp="1"/>
          </p:cNvSpPr>
          <p:nvPr/>
        </p:nvSpPr>
        <p:spPr>
          <a:xfrm>
            <a:off x="609600" y="1609725"/>
            <a:ext cx="10572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pPr>
            <a:r>
              <a:rPr sz="217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Menús</a:t>
            </a:r>
            <a:r>
              <a:rPr sz="217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</a:t>
            </a:r>
            <a:r>
              <a:rPr sz="217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segons</a:t>
            </a:r>
            <a:r>
              <a:rPr sz="217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els dies, els </a:t>
            </a:r>
            <a:r>
              <a:rPr sz="217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àpats</a:t>
            </a:r>
            <a:r>
              <a:rPr sz="217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</a:t>
            </a:r>
            <a:r>
              <a:rPr sz="217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i</a:t>
            </a:r>
            <a:r>
              <a:rPr sz="217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les </a:t>
            </a:r>
            <a:r>
              <a:rPr sz="217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restriccions</a:t>
            </a:r>
            <a:r>
              <a:rPr sz="217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</a:t>
            </a:r>
            <a:r>
              <a:rPr sz="217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que</a:t>
            </a:r>
            <a:r>
              <a:rPr sz="217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</a:t>
            </a:r>
            <a:r>
              <a:rPr sz="217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tria</a:t>
            </a:r>
            <a:r>
              <a:rPr sz="217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</a:t>
            </a:r>
            <a:r>
              <a:rPr sz="217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cada</a:t>
            </a:r>
            <a:r>
              <a:rPr sz="217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</a:t>
            </a:r>
            <a:r>
              <a:rPr sz="217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usuari</a:t>
            </a:r>
            <a:endParaRPr sz="2175" b="0" dirty="0">
              <a:solidFill>
                <a:srgbClr val="172B2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pas-num-1">
            <a:extLst>
              <a:ext uri="{FF2B5EF4-FFF2-40B4-BE49-F238E27FC236}">
                <a16:creationId xmlns:a16="http://schemas.microsoft.com/office/drawing/2014/main" id="{B97805FE-BDA4-48DB-B3E1-BFED094B26C2}"/>
              </a:ext>
            </a:extLst>
          </p:cNvPr>
          <p:cNvSpPr>
            <a:spLocks noGrp="1"/>
          </p:cNvSpPr>
          <p:nvPr/>
        </p:nvSpPr>
        <p:spPr>
          <a:xfrm>
            <a:off x="619125" y="2714625"/>
            <a:ext cx="523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7655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pas-text-1">
            <a:extLst>
              <a:ext uri="{FF2B5EF4-FFF2-40B4-BE49-F238E27FC236}">
                <a16:creationId xmlns:a16="http://schemas.microsoft.com/office/drawing/2014/main" id="{999171C5-C964-4062-9318-77DC0AA86E9E}"/>
              </a:ext>
            </a:extLst>
          </p:cNvPr>
          <p:cNvSpPr>
            <a:spLocks noGrp="1"/>
          </p:cNvSpPr>
          <p:nvPr/>
        </p:nvSpPr>
        <p:spPr>
          <a:xfrm>
            <a:off x="1143000" y="2714625"/>
            <a:ext cx="4095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pPr>
            <a:r>
              <a:rPr sz="172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Configurar</a:t>
            </a:r>
            <a:r>
              <a:rPr sz="172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dies, </a:t>
            </a:r>
            <a:r>
              <a:rPr sz="172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àpats</a:t>
            </a:r>
            <a:r>
              <a:rPr sz="172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i</a:t>
            </a:r>
            <a:r>
              <a:rPr sz="1725" b="0" dirty="0">
                <a:solidFill>
                  <a:srgbClr val="172B27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0" dirty="0" err="1">
                <a:solidFill>
                  <a:srgbClr val="172B27"/>
                </a:solidFill>
                <a:latin typeface="Arial"/>
                <a:ea typeface="Arial"/>
                <a:cs typeface="Arial"/>
              </a:rPr>
              <a:t>dieta</a:t>
            </a:r>
            <a:endParaRPr sz="1725" b="0" dirty="0">
              <a:solidFill>
                <a:srgbClr val="172B2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pas-num-2">
            <a:extLst>
              <a:ext uri="{FF2B5EF4-FFF2-40B4-BE49-F238E27FC236}">
                <a16:creationId xmlns:a16="http://schemas.microsoft.com/office/drawing/2014/main" id="{BB5FBB23-57DB-4A51-AE02-814E2B68A951}"/>
              </a:ext>
            </a:extLst>
          </p:cNvPr>
          <p:cNvSpPr>
            <a:spLocks noGrp="1"/>
          </p:cNvSpPr>
          <p:nvPr/>
        </p:nvSpPr>
        <p:spPr>
          <a:xfrm>
            <a:off x="619125" y="3419475"/>
            <a:ext cx="523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7655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pas-text-2">
            <a:extLst>
              <a:ext uri="{FF2B5EF4-FFF2-40B4-BE49-F238E27FC236}">
                <a16:creationId xmlns:a16="http://schemas.microsoft.com/office/drawing/2014/main" id="{CC251D72-86D2-4AEC-8946-00BA845DB498}"/>
              </a:ext>
            </a:extLst>
          </p:cNvPr>
          <p:cNvSpPr>
            <a:spLocks noGrp="1"/>
          </p:cNvSpPr>
          <p:nvPr/>
        </p:nvSpPr>
        <p:spPr>
          <a:xfrm>
            <a:off x="1143000" y="3419475"/>
            <a:ext cx="4095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27"/>
                </a:solidFill>
                <a:latin typeface="Arial"/>
                <a:ea typeface="Arial"/>
                <a:cs typeface="Arial"/>
              </a:rPr>
              <a:t>Generar una proposta mensual</a:t>
            </a:r>
          </a:p>
        </p:txBody>
      </p:sp>
      <p:sp>
        <p:nvSpPr>
          <p:cNvPr id="8" name="pas-num-3">
            <a:extLst>
              <a:ext uri="{FF2B5EF4-FFF2-40B4-BE49-F238E27FC236}">
                <a16:creationId xmlns:a16="http://schemas.microsoft.com/office/drawing/2014/main" id="{6EF89BE5-0E7B-4773-A506-E8B496E0EA02}"/>
              </a:ext>
            </a:extLst>
          </p:cNvPr>
          <p:cNvSpPr>
            <a:spLocks noGrp="1"/>
          </p:cNvSpPr>
          <p:nvPr/>
        </p:nvSpPr>
        <p:spPr>
          <a:xfrm>
            <a:off x="619125" y="4124325"/>
            <a:ext cx="523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7655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pas-text-3">
            <a:extLst>
              <a:ext uri="{FF2B5EF4-FFF2-40B4-BE49-F238E27FC236}">
                <a16:creationId xmlns:a16="http://schemas.microsoft.com/office/drawing/2014/main" id="{8B89BCE6-B772-4FFA-8769-AAF75EB4CFF2}"/>
              </a:ext>
            </a:extLst>
          </p:cNvPr>
          <p:cNvSpPr>
            <a:spLocks noGrp="1"/>
          </p:cNvSpPr>
          <p:nvPr/>
        </p:nvSpPr>
        <p:spPr>
          <a:xfrm>
            <a:off x="1143000" y="4124325"/>
            <a:ext cx="4095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27"/>
                </a:solidFill>
                <a:latin typeface="Arial"/>
                <a:ea typeface="Arial"/>
                <a:cs typeface="Arial"/>
              </a:rPr>
              <a:t>Revisar el primer menú com a operari</a:t>
            </a:r>
          </a:p>
        </p:txBody>
      </p:sp>
      <p:sp>
        <p:nvSpPr>
          <p:cNvPr id="10" name="pas-num-4">
            <a:extLst>
              <a:ext uri="{FF2B5EF4-FFF2-40B4-BE49-F238E27FC236}">
                <a16:creationId xmlns:a16="http://schemas.microsoft.com/office/drawing/2014/main" id="{028CC50D-C479-4155-AAE3-C9B5E2AF341A}"/>
              </a:ext>
            </a:extLst>
          </p:cNvPr>
          <p:cNvSpPr>
            <a:spLocks noGrp="1"/>
          </p:cNvSpPr>
          <p:nvPr/>
        </p:nvSpPr>
        <p:spPr>
          <a:xfrm>
            <a:off x="619125" y="4829175"/>
            <a:ext cx="523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1">
                <a:solidFill>
                  <a:srgbClr val="E7655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7655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pas-text-4">
            <a:extLst>
              <a:ext uri="{FF2B5EF4-FFF2-40B4-BE49-F238E27FC236}">
                <a16:creationId xmlns:a16="http://schemas.microsoft.com/office/drawing/2014/main" id="{7343B5C3-F61F-4C4C-9AA6-525E9DE5A136}"/>
              </a:ext>
            </a:extLst>
          </p:cNvPr>
          <p:cNvSpPr>
            <a:spLocks noGrp="1"/>
          </p:cNvSpPr>
          <p:nvPr/>
        </p:nvSpPr>
        <p:spPr>
          <a:xfrm>
            <a:off x="1143000" y="4829175"/>
            <a:ext cx="4095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72B2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27"/>
                </a:solidFill>
                <a:latin typeface="Arial"/>
                <a:ea typeface="Arial"/>
                <a:cs typeface="Arial"/>
              </a:rPr>
              <a:t>Consultar la setmana i canviar plats futurs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98DAA20-CBDD-4F5C-BA5D-0D4595205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06483" y="2590800"/>
            <a:ext cx="6417733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612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D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">
            <a:extLst>
              <a:ext uri="{FF2B5EF4-FFF2-40B4-BE49-F238E27FC236}">
                <a16:creationId xmlns:a16="http://schemas.microsoft.com/office/drawing/2014/main" id="{117B66D5-1E80-485C-BC97-ED81D4BE8C23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10763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Funció</a:t>
            </a:r>
            <a:r>
              <a:rPr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d’IA</a:t>
            </a:r>
            <a:endParaRPr sz="36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sub-1">
            <a:extLst>
              <a:ext uri="{FF2B5EF4-FFF2-40B4-BE49-F238E27FC236}">
                <a16:creationId xmlns:a16="http://schemas.microsoft.com/office/drawing/2014/main" id="{D62EF45A-8A8A-49CC-A4E9-61B6CC9FEC4F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4667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CE6D7"/>
                </a:solidFill>
                <a:latin typeface="Arial"/>
                <a:ea typeface="Arial"/>
                <a:cs typeface="Arial"/>
              </a:rPr>
              <a:t>FUNCIONAMENT PREVIST</a:t>
            </a:r>
          </a:p>
        </p:txBody>
      </p:sp>
      <p:sp>
        <p:nvSpPr>
          <p:cNvPr id="3" name="cos-1">
            <a:extLst>
              <a:ext uri="{FF2B5EF4-FFF2-40B4-BE49-F238E27FC236}">
                <a16:creationId xmlns:a16="http://schemas.microsoft.com/office/drawing/2014/main" id="{86F10F3B-D5B5-4B53-822A-1858B09E1B7B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4905375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servidor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filtra plats compatibles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amb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el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perfil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 El model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proposa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un plat per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cada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data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àpat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 El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servidor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tots els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codis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abans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de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publicar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el </a:t>
            </a:r>
            <a:r>
              <a:rPr sz="21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menú</a:t>
            </a:r>
            <a:r>
              <a:rPr sz="21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" name="sub-2">
            <a:extLst>
              <a:ext uri="{FF2B5EF4-FFF2-40B4-BE49-F238E27FC236}">
                <a16:creationId xmlns:a16="http://schemas.microsoft.com/office/drawing/2014/main" id="{2BB39BEF-9DCF-476E-9465-7DE9BEA4D3B6}"/>
              </a:ext>
            </a:extLst>
          </p:cNvPr>
          <p:cNvSpPr>
            <a:spLocks noGrp="1"/>
          </p:cNvSpPr>
          <p:nvPr/>
        </p:nvSpPr>
        <p:spPr>
          <a:xfrm>
            <a:off x="6172200" y="1600200"/>
            <a:ext cx="4667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CE6D7"/>
                </a:solidFill>
                <a:latin typeface="Arial"/>
                <a:ea typeface="Arial"/>
                <a:cs typeface="Arial"/>
              </a:rPr>
              <a:t>ESTAT COMPROVAT</a:t>
            </a:r>
          </a:p>
        </p:txBody>
      </p:sp>
      <p:sp>
        <p:nvSpPr>
          <p:cNvPr id="5" name="estat-1">
            <a:extLst>
              <a:ext uri="{FF2B5EF4-FFF2-40B4-BE49-F238E27FC236}">
                <a16:creationId xmlns:a16="http://schemas.microsoft.com/office/drawing/2014/main" id="{D9A09A45-EFD9-41D9-9912-8098E6C56CBB}"/>
              </a:ext>
            </a:extLst>
          </p:cNvPr>
          <p:cNvSpPr>
            <a:spLocks noGrp="1"/>
          </p:cNvSpPr>
          <p:nvPr/>
        </p:nvSpPr>
        <p:spPr>
          <a:xfrm>
            <a:off x="6172200" y="2076450"/>
            <a:ext cx="52387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 actual: </a:t>
            </a:r>
            <a:r>
              <a:rPr sz="18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generador</a:t>
            </a:r>
            <a:r>
              <a:rPr sz="18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local sense IA</a:t>
            </a:r>
          </a:p>
        </p:txBody>
      </p:sp>
      <p:sp>
        <p:nvSpPr>
          <p:cNvPr id="6" name="estat-2">
            <a:extLst>
              <a:ext uri="{FF2B5EF4-FFF2-40B4-BE49-F238E27FC236}">
                <a16:creationId xmlns:a16="http://schemas.microsoft.com/office/drawing/2014/main" id="{DC3505A5-1820-4827-B8B8-EE2A8477786B}"/>
              </a:ext>
            </a:extLst>
          </p:cNvPr>
          <p:cNvSpPr>
            <a:spLocks noGrp="1"/>
          </p:cNvSpPr>
          <p:nvPr/>
        </p:nvSpPr>
        <p:spPr>
          <a:xfrm>
            <a:off x="6172200" y="2838450"/>
            <a:ext cx="5238750" cy="866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Adaptador Groq implementat i provat amb resposta simulada</a:t>
            </a:r>
          </a:p>
        </p:txBody>
      </p:sp>
      <p:sp>
        <p:nvSpPr>
          <p:cNvPr id="7" name="estat-3">
            <a:extLst>
              <a:ext uri="{FF2B5EF4-FFF2-40B4-BE49-F238E27FC236}">
                <a16:creationId xmlns:a16="http://schemas.microsoft.com/office/drawing/2014/main" id="{C758A859-A5C9-4D7C-BF43-E0F20C570BF1}"/>
              </a:ext>
            </a:extLst>
          </p:cNvPr>
          <p:cNvSpPr>
            <a:spLocks noGrp="1"/>
          </p:cNvSpPr>
          <p:nvPr/>
        </p:nvSpPr>
        <p:spPr>
          <a:xfrm>
            <a:off x="6172200" y="3829050"/>
            <a:ext cx="5238750" cy="866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Crida</a:t>
            </a:r>
            <a:r>
              <a:rPr sz="187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real al </a:t>
            </a:r>
            <a:r>
              <a:rPr sz="187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proveïdor</a:t>
            </a:r>
            <a:r>
              <a:rPr sz="187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encara</a:t>
            </a:r>
            <a:r>
              <a:rPr sz="187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pendent de </a:t>
            </a:r>
            <a:r>
              <a:rPr sz="187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verificar</a:t>
            </a:r>
            <a:endParaRPr sz="187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eines">
            <a:extLst>
              <a:ext uri="{FF2B5EF4-FFF2-40B4-BE49-F238E27FC236}">
                <a16:creationId xmlns:a16="http://schemas.microsoft.com/office/drawing/2014/main" id="{93012077-A1C1-4713-8FEE-AE1C4CD1E23E}"/>
              </a:ext>
            </a:extLst>
          </p:cNvPr>
          <p:cNvSpPr>
            <a:spLocks noGrp="1"/>
          </p:cNvSpPr>
          <p:nvPr/>
        </p:nvSpPr>
        <p:spPr>
          <a:xfrm>
            <a:off x="609600" y="5210175"/>
            <a:ext cx="1076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1">
                <a:solidFill>
                  <a:srgbClr val="BCE6D7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BCE6D7"/>
                </a:solidFill>
                <a:latin typeface="Arial"/>
                <a:ea typeface="Arial"/>
                <a:cs typeface="Arial"/>
              </a:rPr>
              <a:t>Eines </a:t>
            </a:r>
            <a:r>
              <a:rPr sz="1725" b="1" dirty="0" err="1">
                <a:solidFill>
                  <a:srgbClr val="BCE6D7"/>
                </a:solidFill>
                <a:latin typeface="Arial"/>
                <a:ea typeface="Arial"/>
                <a:cs typeface="Arial"/>
              </a:rPr>
              <a:t>utilitzades</a:t>
            </a:r>
            <a:r>
              <a:rPr sz="1725" b="1" dirty="0">
                <a:solidFill>
                  <a:srgbClr val="BCE6D7"/>
                </a:solidFill>
                <a:latin typeface="Arial"/>
                <a:ea typeface="Arial"/>
                <a:cs typeface="Arial"/>
              </a:rPr>
              <a:t>: Codex per </a:t>
            </a:r>
            <a:r>
              <a:rPr sz="1725" b="1" dirty="0" err="1">
                <a:solidFill>
                  <a:srgbClr val="BCE6D7"/>
                </a:solidFill>
                <a:latin typeface="Arial"/>
                <a:ea typeface="Arial"/>
                <a:cs typeface="Arial"/>
              </a:rPr>
              <a:t>programar</a:t>
            </a:r>
            <a:r>
              <a:rPr sz="1725" b="1" dirty="0">
                <a:solidFill>
                  <a:srgbClr val="BCE6D7"/>
                </a:solidFill>
                <a:latin typeface="Arial"/>
                <a:ea typeface="Arial"/>
                <a:cs typeface="Arial"/>
              </a:rPr>
              <a:t>, </a:t>
            </a:r>
            <a:r>
              <a:rPr sz="1725" b="1" dirty="0" err="1">
                <a:solidFill>
                  <a:srgbClr val="BCE6D7"/>
                </a:solidFill>
                <a:latin typeface="Arial"/>
                <a:ea typeface="Arial"/>
                <a:cs typeface="Arial"/>
              </a:rPr>
              <a:t>revisar</a:t>
            </a:r>
            <a:r>
              <a:rPr sz="1725" b="1" dirty="0">
                <a:solidFill>
                  <a:srgbClr val="BCE6D7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BCE6D7"/>
                </a:solidFill>
                <a:latin typeface="Arial"/>
                <a:ea typeface="Arial"/>
                <a:cs typeface="Arial"/>
              </a:rPr>
              <a:t>i</a:t>
            </a:r>
            <a:r>
              <a:rPr sz="1725" b="1" dirty="0">
                <a:solidFill>
                  <a:srgbClr val="BCE6D7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BCE6D7"/>
                </a:solidFill>
                <a:latin typeface="Arial"/>
                <a:ea typeface="Arial"/>
                <a:cs typeface="Arial"/>
              </a:rPr>
              <a:t>documentar</a:t>
            </a:r>
            <a:r>
              <a:rPr sz="1725" b="1" dirty="0">
                <a:solidFill>
                  <a:srgbClr val="BCE6D7"/>
                </a:solidFill>
                <a:latin typeface="Arial"/>
                <a:ea typeface="Arial"/>
                <a:cs typeface="Arial"/>
              </a:rPr>
              <a:t> el </a:t>
            </a:r>
            <a:r>
              <a:rPr sz="1725" b="1" dirty="0" err="1">
                <a:solidFill>
                  <a:srgbClr val="BCE6D7"/>
                </a:solidFill>
                <a:latin typeface="Arial"/>
                <a:ea typeface="Arial"/>
                <a:cs typeface="Arial"/>
              </a:rPr>
              <a:t>prototip</a:t>
            </a:r>
            <a:endParaRPr sz="1725" b="1" dirty="0">
              <a:solidFill>
                <a:srgbClr val="BCE6D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pendent">
            <a:extLst>
              <a:ext uri="{FF2B5EF4-FFF2-40B4-BE49-F238E27FC236}">
                <a16:creationId xmlns:a16="http://schemas.microsoft.com/office/drawing/2014/main" id="{974B8A7E-BDC3-43CD-A766-886EDC3EDB60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1076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Pendent per a la defensa: 2 proves externes </a:t>
            </a:r>
            <a:r>
              <a:rPr sz="15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sz="15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1 </a:t>
            </a:r>
            <a:r>
              <a:rPr sz="15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millora</a:t>
            </a:r>
            <a:r>
              <a:rPr sz="15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basada</a:t>
            </a:r>
            <a:r>
              <a:rPr sz="15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</a:t>
            </a:r>
            <a:r>
              <a:rPr sz="150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les </a:t>
            </a:r>
            <a:r>
              <a:rPr sz="150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observacions</a:t>
            </a:r>
            <a:endParaRPr sz="150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49887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</Words>
  <Application>Microsoft Office PowerPoint</Application>
  <DocSecurity>0</DocSecurity>
  <PresentationFormat>Panorámica</PresentationFormat>
  <Paragraphs>22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5" baseType="lpstr">
      <vt:lpstr>Aptos</vt:lpstr>
      <vt:lpstr>Arial</vt:lpstr>
      <vt:lpstr>ChatGPT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sergi eroles</cp:lastModifiedBy>
  <cp:revision>1</cp:revision>
  <dcterms:created xsi:type="dcterms:W3CDTF">2026-10-20T09:06:27Z</dcterms:created>
  <dcterms:modified xsi:type="dcterms:W3CDTF">2026-10-20T15:15:29Z</dcterms:modified>
</cp:coreProperties>
</file>